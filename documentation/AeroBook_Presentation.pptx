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2880"/>
            <a:ext cx="11731752" cy="6492240"/>
          </a:xfrm>
          <a:prstGeom prst="rect">
            <a:avLst/>
          </a:prstGeom>
          <a:solidFill>
            <a:srgbClr val="000000"/>
          </a:solidFill>
          <a:ln w="19050">
            <a:solidFill>
              <a:srgbClr val="272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548640"/>
            <a:ext cx="2926080" cy="347472"/>
          </a:xfrm>
          <a:prstGeom prst="roundRect">
            <a:avLst>
              <a:gd name="adj" fmla="val 26316"/>
            </a:avLst>
          </a:prstGeom>
          <a:solidFill>
            <a:srgbClr val="18181B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5486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PROJECT PRESENTATION  *  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AeroBook Flight Platform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Airline Reservation &amp; Distributed Flight Operations Engine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cloud-native, microservices-driven distributed reservation system featuring real-time seat inventory locking, dynamic fare calculations, self-service web check-in with 2D QR boarding passes, and event-driven asynchronous messaging.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725912" cy="0"/>
          </a:xfrm>
          <a:prstGeom prst="line">
            <a:avLst/>
          </a:prstGeom>
          <a:noFill/>
          <a:ln w="15240">
            <a:solidFill>
              <a:srgbClr val="3F3F4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246120"/>
            <a:ext cx="3337560" cy="2926080"/>
          </a:xfrm>
          <a:prstGeom prst="roundRect">
            <a:avLst>
              <a:gd name="adj" fmla="val 3125"/>
            </a:avLst>
          </a:prstGeom>
          <a:solidFill>
            <a:srgbClr val="18181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290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LEAD &amp; DEVELOPER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0" y="4023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Developer / Student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448056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 Computer Science &amp; Engineering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Roll No / ID: AB-2026-CS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Specialization: Cloud Computing &amp; Distributed Systems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34840" y="3246120"/>
            <a:ext cx="3337560" cy="2926080"/>
          </a:xfrm>
          <a:prstGeom prst="roundRect">
            <a:avLst>
              <a:gd name="adj" fmla="val 3125"/>
            </a:avLst>
          </a:prstGeom>
          <a:solidFill>
            <a:srgbClr val="18181B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34290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GUIDANCE &amp; MENTORSHIP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17720" y="379476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Mentor / Guide: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17720" y="4023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/ Dr. Project Mentor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617720" y="448056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&amp; Technical Guide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Enterprise Software Architecture,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&amp; Distributed Database Systems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138160" y="3246120"/>
            <a:ext cx="3337560" cy="2926080"/>
          </a:xfrm>
          <a:prstGeom prst="roundRect">
            <a:avLst>
              <a:gd name="adj" fmla="val 3125"/>
            </a:avLst>
          </a:prstGeom>
          <a:solidFill>
            <a:srgbClr val="18181B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34290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SPECIFICATIONS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21040" y="379476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Foundation: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321040" y="4023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+ AMQP Event Broker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21040" y="44805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Framework: Spring Boot 3.2 &amp; Spring Cloud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Routing: Spring Cloud Gateway (Netty WebFlux)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Discovery: Netflix Eureka Registry (Port 8761)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Storage: Database-per-Service (6x MySQL 8.0)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Messaging: RabbitMQ Message Broker (Port 5672)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Stateless JWT (HMAC-SHA256)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2880"/>
            <a:ext cx="11731752" cy="6492240"/>
          </a:xfrm>
          <a:prstGeom prst="rect">
            <a:avLst/>
          </a:prstGeom>
          <a:solidFill>
            <a:srgbClr val="000000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8571"/>
            </a:avLst>
          </a:prstGeom>
          <a:solidFill>
            <a:srgbClr val="1818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SOLUTION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Motivation, Problem Statement &amp; Overview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Addressing the vulnerabilities of monolithic airline reservation architectures with cloud-native resilience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1672" cy="0"/>
          </a:xfrm>
          <a:prstGeom prst="line">
            <a:avLst/>
          </a:prstGeom>
          <a:noFill/>
          <a:ln w="12700">
            <a:solidFill>
              <a:srgbClr val="3F3F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6596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18181B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031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CHALLENGE: MONOLITHIC AIRLINE FAILURES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423160"/>
            <a:ext cx="4892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Point of Failure (SPOF): When high-volume flight searches surge, checkout and boarding systems crash simultaneously.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Database Contention: Heavy catalog read traffic causes table locking on transactional booking manifests.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Tight Coupling: Modifying dynamic pricing formulas requires rebuilding and redeploying the entire airline platform.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Lack of Fault Isolation: Third-party payment or SMS gateway timeouts freeze user requests and exhaust web server threads.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18181B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1031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AEROBOOK SOLUTION: CLOUD-NATIVE MICROSERVICES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2423160"/>
            <a:ext cx="4892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Decentralized Domain Architecture: 6 independent, business-aligned microservices collaborating over REST &amp; AMQP.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Database-Per-Service Isolation: Dedicated MySQL schemas ensure flight search reads never impact booking commits.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Non-Blocking Edge Gateway: Spring Cloud Gateway (Netty WebFlux) handles rate limiting, security, and OpenAPI aggregation.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Asynchronous Event Streaming: RabbitMQ message queues offload notification dispatch, ensuring sub-50ms checkout responses.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31520" y="420624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18181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34340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BUSINESS CAPABILITIES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4663440"/>
            <a:ext cx="4892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Multi-Criteria Flight Search: Origin, destination, date, and multi-cabin class real-time availability querying.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Dynamic Surge Pricing: Base fare distance calculations augmented with cabin multipliers, demand surge, and taxes.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Atomic Seat Hold &amp; PNR: Two-phase 10-minute temporary seat holds with unique 6-character PNR generation.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Airport Web Check-In: Departure window rules (T-24h to T-1h) with cryptographically signed 2D QR boarding passes.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420624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18181B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434340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QUALITY ATTRIBUTES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4663440"/>
            <a:ext cx="4892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 Availability: Eureka service discovery enables horizontal scaling with automated client-side load balancing.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PCI-DSS Scope Minimization: Zero plain-text credit card storage; utilizes opaque single-use tokens authorized with external gateways.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Strict Data Governance: Entity correlation via immutable UUIDs and PNRs across service boundaries without cross-DB joins.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Resilient Error Recovery: RabbitMQ Dead-Letter Exchanges (DLX) and retry backoffs guarantee at-least-once message delivery.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2880"/>
            <a:ext cx="11731752" cy="6492240"/>
          </a:xfrm>
          <a:prstGeom prst="rect">
            <a:avLst/>
          </a:prstGeom>
          <a:solidFill>
            <a:srgbClr val="000000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8571"/>
            </a:avLst>
          </a:prstGeom>
          <a:solidFill>
            <a:srgbClr val="1818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BLUEPRINT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System Architecture &amp; Microservice Topology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multi-tier decomposition with centralized edge routing, discovery, and isolated domain data stores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1672" cy="0"/>
          </a:xfrm>
          <a:prstGeom prst="line">
            <a:avLst/>
          </a:prstGeom>
          <a:noFill/>
          <a:ln w="12700">
            <a:solidFill>
              <a:srgbClr val="3F3F46"/>
            </a:solidFill>
            <a:prstDash val="solid"/>
          </a:ln>
        </p:spPr>
      </p:sp>
      <p:pic>
        <p:nvPicPr>
          <p:cNvPr id="8" name="Image 0" descr="D:/aerobook/documentation/AeroBook_Architecture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965960"/>
            <a:ext cx="658368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98080" y="19659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18181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3524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EDGE ROUTING &amp; SECURITY TIER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635240" y="2304288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Gateway (Port 8083): Spring Cloud Gateway (Netty WebFlux).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 JWT Filter: Enforces Bearer token verification.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Centralized Docs Hub: Swagger UI aggregate dropdown.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Netflix Eureka (Port 8761): Heartbeat health checks &amp; load balancing.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7498080" y="342900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18181B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3520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CORE DOMAIN MICROSERVICES (PORTS)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635240" y="3767328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auth-service (8082): Identity provider, BCrypt, HMAC-SHA256 JWT.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user-service (8084): Traveler profiles, passports, preferences.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flight-service (8087): Fleet schedules, cabin seats, atomic locks.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fare-service (8089): Dynamic pricing engine, surge multipliers.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booking-service (8088): PNR orchestration, saga coordinator.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check-in-service (8090): Web check-in, 2D QR pass generation.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7498080" y="521208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8181B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35240" y="528523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ISOLATED PERSISTENCE &amp; MESSAGING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635240" y="5504688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Database-per-Service: 6 isolated MySQL 8 schemas (Zero shared state).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RabbitMQ Message Broker (5672): AMQP topic exchange &amp; queues.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Asynchronous Decoupling: Non-blocking email/SMS notification delivery.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2880"/>
            <a:ext cx="11731752" cy="6492240"/>
          </a:xfrm>
          <a:prstGeom prst="rect">
            <a:avLst/>
          </a:prstGeom>
          <a:solidFill>
            <a:srgbClr val="000000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8571"/>
            </a:avLst>
          </a:prstGeom>
          <a:solidFill>
            <a:srgbClr val="1818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EXCELLENCE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Highlights &amp; Data Architecture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architectural deep dive into transactional sagas, event-driven messaging, and data governance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1672" cy="0"/>
          </a:xfrm>
          <a:prstGeom prst="line">
            <a:avLst/>
          </a:prstGeom>
          <a:noFill/>
          <a:ln w="12700">
            <a:solidFill>
              <a:srgbClr val="3F3F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65960"/>
            <a:ext cx="2514600" cy="425196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488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DATABASE-PER-SERVICE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PATTERN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2240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 Isolated Schemas: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aerobook_auth_db, flight_db, booking_db, user_db, fare_db, checkin_db.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Cross-Database Joins: Direct SQL joins across schemas are architecturally banned.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Entity Correlation: Services reference immutable IDs (e.g. flightId, pnr) validated via OpenFeign.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Benefits: Zero deadlock cascades, independent scaling, and schema autonomy.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74720" y="1965960"/>
            <a:ext cx="2514600" cy="425196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21488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AMQP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STREAMING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2743200"/>
            <a:ext cx="2240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RabbitMQ Integration: Exchange aerobook.direct bound to queue booking.events.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Non-Blocking Checkout: Booking service publishes BookingConfirmedEvent in &lt;5ms and immediately returns.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Worker Consumer: Background worker consumes event, formats HTML tickets, and calls SendGrid/Twilio.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Fault Tolerance: Dead-Letter Exchange (DLX) &amp; automated retry backoffs.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514600" cy="425196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488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SCOPE &amp; ZERO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CARD STORAGE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43200"/>
            <a:ext cx="2240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Sensitive Storage: Credit card numbers (PAN) and CVVs never touch AeroBook disks or memory.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Client Tokenization: Front-end tokenizes cards with Stripe/Razorpay directly.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Opaque Handshakes: Booking service only handles transient tokens and settlement txn_ids.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Logging: Tamper-evident transaction logs without exposing financial credentials.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965960"/>
            <a:ext cx="2514600" cy="425196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19050">
            <a:solidFill>
              <a:srgbClr val="FACC1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21488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&amp; ATOMIC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HOLD LOCKS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098280" y="2743200"/>
            <a:ext cx="2240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High-Concurrency Defense: Prevents double-booking during flash fare ticket rushes.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Two-Phase Hold: Seats are marked as HELD with a 10-minute hold expiration timestamp.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Atomic Transitions: Row-level locks (SELECT ... FOR UPDATE) prevent simultaneous claims.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Auto-Release: If payment fails or times out, the held seat is immediately released back to inventory.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2880"/>
            <a:ext cx="11731752" cy="6492240"/>
          </a:xfrm>
          <a:prstGeom prst="rect">
            <a:avLst/>
          </a:prstGeom>
          <a:solidFill>
            <a:srgbClr val="000000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8571"/>
            </a:avLst>
          </a:prstGeom>
          <a:solidFill>
            <a:srgbClr val="1818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Results, Engineering Milestones &amp; Future Scope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Demonstrating production readiness, automated test coverage, and the future evolutionary roadmap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1672" cy="0"/>
          </a:xfrm>
          <a:prstGeom prst="line">
            <a:avLst/>
          </a:prstGeom>
          <a:noFill/>
          <a:ln w="12700">
            <a:solidFill>
              <a:srgbClr val="3F3F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65960"/>
            <a:ext cx="5257800" cy="1920240"/>
          </a:xfrm>
          <a:prstGeom prst="roundRect">
            <a:avLst>
              <a:gd name="adj" fmla="val 4762"/>
            </a:avLst>
          </a:prstGeom>
          <a:solidFill>
            <a:srgbClr val="18181B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031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AUTOMATED TESTING (90+ TESTS)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42316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Core Service Test Coverage across Gateway, Auth, Flight, Fare, Booking, and Check-In.</a:t>
            </a:r>
            <a:endParaRPr lang="en-US" sz="8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WebTestClient &amp; Mockito: Tested Gateway dynamic OpenAPI routing and Netty WebFlux JWT filters.</a:t>
            </a:r>
            <a:endParaRPr lang="en-US" sz="8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Boundary Testing: Verified dynamic surge multipliers, negative seat inventory checks, and expired token rejection.</a:t>
            </a:r>
            <a:endParaRPr lang="en-US" sz="8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Inter-Service Contract Tests: OpenFeign client integration tests verified with WireMock/Mockito.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257800" cy="1920240"/>
          </a:xfrm>
          <a:prstGeom prst="roundRect">
            <a:avLst>
              <a:gd name="adj" fmla="val 4762"/>
            </a:avLst>
          </a:prstGeom>
          <a:solidFill>
            <a:srgbClr val="18181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1031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MILESTONES ACHIEVED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242316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Sub-50ms Gateway Routing Latency achieved through non-blocking asynchronous Netty pipelines.</a:t>
            </a:r>
            <a:endParaRPr lang="en-US" sz="8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Centralized OpenAPI/Swagger Hub dynamically aggregates live API docs from all 6 services.</a:t>
            </a:r>
            <a:endParaRPr lang="en-US" sz="8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Zero-Downtime Service Discovery: Eureka enables dynamic scale-up without restarting gateway routers.</a:t>
            </a:r>
            <a:endParaRPr lang="en-US" sz="8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E4E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End-to-End Visual Documentation: Complete Use Case, Architecture, Class, and DFD specifications.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731520" y="4069080"/>
            <a:ext cx="10744200" cy="1417320"/>
          </a:xfrm>
          <a:prstGeom prst="roundRect">
            <a:avLst>
              <a:gd name="adj" fmla="val 6452"/>
            </a:avLst>
          </a:prstGeom>
          <a:solidFill>
            <a:srgbClr val="18181B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187952"/>
            <a:ext cx="10378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EVOLUTIONARY ROADMAP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448056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AI Dynamic Pricing Engine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4736592"/>
            <a:ext cx="3337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 to forecast passenger demand curve and adjust seat prices in real time based on historical booking velocities.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434840" y="448056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Biometric Gate Boarding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4736592"/>
            <a:ext cx="3337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recognition integration with airport gate cameras, matching passenger biometric embeddings directly against passport records.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955280" y="448056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Multi-Carrier Interlining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55280" y="4736592"/>
            <a:ext cx="3337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IATA ONE Order &amp; NDC compliance enabling interline bookings with partner airlines and unified real-time baggage RFID telemetry.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1520" y="5669280"/>
            <a:ext cx="10744200" cy="594360"/>
          </a:xfrm>
          <a:prstGeom prst="roundRect">
            <a:avLst>
              <a:gd name="adj" fmla="val 12308"/>
            </a:avLst>
          </a:prstGeom>
          <a:solidFill>
            <a:srgbClr val="18181B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669280"/>
            <a:ext cx="10744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 *  QUESTIONS, DEFENSE &amp; DISCUSSION ARE WELCOMED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AeroBook Flight Platform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AeroBook Flight Platform - Project Presentation</dc:title>
  <dc:subject>PptxGenJS Presentation</dc:subject>
  <dc:creator>AeroBook Team</dc:creator>
  <cp:lastModifiedBy>AeroBook Team</cp:lastModifiedBy>
  <cp:revision>1</cp:revision>
  <dcterms:created xsi:type="dcterms:W3CDTF">2026-09-14T14:38:36Z</dcterms:created>
  <dcterms:modified xsi:type="dcterms:W3CDTF">2026-09-14T14:38:36Z</dcterms:modified>
</cp:coreProperties>
</file>